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smtClean="0"/>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‹N°›</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smtClean="0"/>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smtClean="0"/>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smtClean="0"/>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11/27/2024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718156" y="1996226"/>
            <a:ext cx="6812209" cy="2369713"/>
          </a:xfrm>
        </p:spPr>
        <p:txBody>
          <a:bodyPr/>
          <a:lstStyle/>
          <a:p>
            <a:r>
              <a:rPr lang="fr-FR" dirty="0" smtClean="0"/>
              <a:t>Checkpoint :</a:t>
            </a:r>
            <a:br>
              <a:rPr lang="fr-FR" dirty="0" smtClean="0"/>
            </a:br>
            <a:r>
              <a:rPr lang="fr-FR" dirty="0" smtClean="0"/>
              <a:t>Python Vs Java différences</a:t>
            </a:r>
            <a:endParaRPr lang="fr-FR" dirty="0"/>
          </a:p>
        </p:txBody>
      </p:sp>
    </p:spTree>
    <p:extLst>
      <p:ext uri="{BB962C8B-B14F-4D97-AF65-F5344CB8AC3E}">
        <p14:creationId xmlns:p14="http://schemas.microsoft.com/office/powerpoint/2010/main" val="4246626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189409" y="953037"/>
            <a:ext cx="7637172" cy="461665"/>
          </a:xfrm>
          <a:prstGeom prst="rect">
            <a:avLst/>
          </a:prstGeom>
          <a:noFill/>
        </p:spPr>
        <p:txBody>
          <a:bodyPr wrap="square" rtlCol="0">
            <a:spAutoFit/>
          </a:bodyPr>
          <a:lstStyle/>
          <a:p>
            <a:pPr algn="ctr"/>
            <a:r>
              <a:rPr lang="fr-CA" sz="2400" b="1" dirty="0"/>
              <a:t>Qu‘est-ce que Python et Java </a:t>
            </a:r>
            <a:r>
              <a:rPr lang="fr-CA" sz="2400" b="1" dirty="0" smtClean="0"/>
              <a:t>?</a:t>
            </a:r>
            <a:endParaRPr lang="fr-CA" sz="2400" b="1" dirty="0"/>
          </a:p>
        </p:txBody>
      </p:sp>
      <p:sp>
        <p:nvSpPr>
          <p:cNvPr id="3" name="ZoneTexte 2"/>
          <p:cNvSpPr txBox="1"/>
          <p:nvPr/>
        </p:nvSpPr>
        <p:spPr>
          <a:xfrm>
            <a:off x="1313645" y="1648496"/>
            <a:ext cx="9994006" cy="1938992"/>
          </a:xfrm>
          <a:prstGeom prst="rect">
            <a:avLst/>
          </a:prstGeom>
          <a:noFill/>
        </p:spPr>
        <p:txBody>
          <a:bodyPr wrap="square" rtlCol="0">
            <a:spAutoFit/>
          </a:bodyPr>
          <a:lstStyle/>
          <a:p>
            <a:r>
              <a:rPr lang="fr-CA" sz="2400" dirty="0"/>
              <a:t>Python et Java sont des langages de programmation de haut niveau réputés pour leur polyvalence et leur large éventail d‘applications. Python est réputé pour sa simplicité et sa lisibilité, qui favorisent un développement et un déploiement rapides. Java, quant à lui, est loué pour sa portabilité et ses performances robustes, ce qui en fait un pilier dans les environnements d‘entreprise.</a:t>
            </a:r>
            <a:endParaRPr lang="fr-FR" sz="2400" dirty="0"/>
          </a:p>
        </p:txBody>
      </p:sp>
      <p:pic>
        <p:nvPicPr>
          <p:cNvPr id="1026" name="Picture 2" descr="https://i.imgur.com/AropAX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7024" y="3699982"/>
            <a:ext cx="4570971" cy="25711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va : Comment est-il devenu le langage de programmation leader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6224" y="3699982"/>
            <a:ext cx="4352031" cy="2532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733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46220" y="1674252"/>
            <a:ext cx="10148552" cy="4154984"/>
          </a:xfrm>
          <a:prstGeom prst="rect">
            <a:avLst/>
          </a:prstGeom>
          <a:noFill/>
        </p:spPr>
        <p:txBody>
          <a:bodyPr wrap="square" rtlCol="0">
            <a:spAutoFit/>
          </a:bodyPr>
          <a:lstStyle/>
          <a:p>
            <a:r>
              <a:rPr lang="fr-CA" sz="2400" dirty="0"/>
              <a:t>Python est un langage de programmation de haut niveau, dynamiquement typé et interprété, connu pour sa simplicité et sa facilité d'utilisation. En raison de sa nature polyvalente et de sa flexibilité, il convient à un large éventail d'applications et d'utilisateurs, y compris les débutants, les développeurs d'applications web et mobiles, les ingénieurs en logiciels, les data </a:t>
            </a:r>
            <a:r>
              <a:rPr lang="fr-CA" sz="2400" dirty="0" smtClean="0"/>
              <a:t>scientistes </a:t>
            </a:r>
            <a:r>
              <a:rPr lang="fr-CA" sz="2400" dirty="0"/>
              <a:t>et toute personne intéressée par la programmation informatique</a:t>
            </a:r>
            <a:r>
              <a:rPr lang="fr-CA" sz="2400" dirty="0" smtClean="0"/>
              <a:t>.</a:t>
            </a:r>
          </a:p>
          <a:p>
            <a:r>
              <a:rPr lang="fr-CA" sz="2400" dirty="0"/>
              <a:t>Ce langage a trouvé sa place dans divers domaines tels que le développement web, l‘analyse de données, l‘intelligence artificielle, etc. Le typage dynamique et le vaste écosystème de bibliothèques de Python renforcent encore son attrait, en favorisant la créativité et l‘innovation.</a:t>
            </a:r>
          </a:p>
          <a:p>
            <a:endParaRPr lang="fr-FR" sz="2400" dirty="0"/>
          </a:p>
        </p:txBody>
      </p:sp>
      <p:sp>
        <p:nvSpPr>
          <p:cNvPr id="5" name="ZoneTexte 4"/>
          <p:cNvSpPr txBox="1"/>
          <p:nvPr/>
        </p:nvSpPr>
        <p:spPr>
          <a:xfrm>
            <a:off x="2331076" y="1068946"/>
            <a:ext cx="7044744" cy="461665"/>
          </a:xfrm>
          <a:prstGeom prst="rect">
            <a:avLst/>
          </a:prstGeom>
          <a:noFill/>
        </p:spPr>
        <p:txBody>
          <a:bodyPr wrap="square" rtlCol="0">
            <a:spAutoFit/>
          </a:bodyPr>
          <a:lstStyle/>
          <a:p>
            <a:pPr algn="ctr"/>
            <a:r>
              <a:rPr lang="fr-FR" sz="2400" dirty="0" smtClean="0"/>
              <a:t>Qu’est ce que Python</a:t>
            </a:r>
            <a:endParaRPr lang="fr-FR" sz="2400" dirty="0"/>
          </a:p>
        </p:txBody>
      </p:sp>
    </p:spTree>
    <p:extLst>
      <p:ext uri="{BB962C8B-B14F-4D97-AF65-F5344CB8AC3E}">
        <p14:creationId xmlns:p14="http://schemas.microsoft.com/office/powerpoint/2010/main" val="3660141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37138" y="901521"/>
            <a:ext cx="7353837" cy="461665"/>
          </a:xfrm>
          <a:prstGeom prst="rect">
            <a:avLst/>
          </a:prstGeom>
          <a:noFill/>
        </p:spPr>
        <p:txBody>
          <a:bodyPr wrap="square" rtlCol="0">
            <a:spAutoFit/>
          </a:bodyPr>
          <a:lstStyle/>
          <a:p>
            <a:pPr algn="ctr"/>
            <a:r>
              <a:rPr lang="fr-FR" sz="2400" dirty="0"/>
              <a:t>Langage de programmation Java</a:t>
            </a:r>
            <a:endParaRPr lang="fr-FR" sz="2400" dirty="0"/>
          </a:p>
        </p:txBody>
      </p:sp>
      <p:sp>
        <p:nvSpPr>
          <p:cNvPr id="3" name="ZoneTexte 2"/>
          <p:cNvSpPr txBox="1"/>
          <p:nvPr/>
        </p:nvSpPr>
        <p:spPr>
          <a:xfrm>
            <a:off x="1519707" y="1944710"/>
            <a:ext cx="9272789" cy="3416320"/>
          </a:xfrm>
          <a:prstGeom prst="rect">
            <a:avLst/>
          </a:prstGeom>
          <a:noFill/>
        </p:spPr>
        <p:txBody>
          <a:bodyPr wrap="square" rtlCol="0">
            <a:spAutoFit/>
          </a:bodyPr>
          <a:lstStyle/>
          <a:p>
            <a:r>
              <a:rPr lang="fr-CA" sz="2400" dirty="0"/>
              <a:t>Java, un langage compilé, est un pilier de </a:t>
            </a:r>
            <a:r>
              <a:rPr lang="fr-CA" sz="2400" dirty="0" smtClean="0"/>
              <a:t>l’informatique d’entreprise</a:t>
            </a:r>
            <a:r>
              <a:rPr lang="fr-CA" sz="2400" dirty="0"/>
              <a:t>. Sa nature neutre sur le plan de </a:t>
            </a:r>
            <a:r>
              <a:rPr lang="fr-CA" sz="2400" dirty="0" smtClean="0"/>
              <a:t>l’architecture </a:t>
            </a:r>
            <a:r>
              <a:rPr lang="fr-CA" sz="2400" dirty="0"/>
              <a:t>garantit que les applications Java sont portables </a:t>
            </a:r>
            <a:r>
              <a:rPr lang="fr-CA" sz="2400" dirty="0" smtClean="0"/>
              <a:t>d’une </a:t>
            </a:r>
            <a:r>
              <a:rPr lang="fr-CA" sz="2400" dirty="0"/>
              <a:t>plate-forme à </a:t>
            </a:r>
            <a:r>
              <a:rPr lang="fr-CA" sz="2400" dirty="0" smtClean="0"/>
              <a:t>l’autre</a:t>
            </a:r>
            <a:r>
              <a:rPr lang="fr-CA" sz="2400" dirty="0"/>
              <a:t>, conformément au principe "</a:t>
            </a:r>
            <a:r>
              <a:rPr lang="fr-CA" sz="2400" dirty="0" err="1"/>
              <a:t>Write</a:t>
            </a:r>
            <a:r>
              <a:rPr lang="fr-CA" sz="2400" dirty="0"/>
              <a:t> Once, </a:t>
            </a:r>
            <a:r>
              <a:rPr lang="fr-CA" sz="2400" dirty="0" err="1"/>
              <a:t>Run</a:t>
            </a:r>
            <a:r>
              <a:rPr lang="fr-CA" sz="2400" dirty="0"/>
              <a:t> </a:t>
            </a:r>
            <a:r>
              <a:rPr lang="fr-CA" sz="2400" dirty="0" err="1"/>
              <a:t>Anywhere</a:t>
            </a:r>
            <a:r>
              <a:rPr lang="fr-CA" sz="2400" dirty="0"/>
              <a:t>" (WORA). La syntaxe de Java, bien que plus verbeuse que celle de Python, est robuste et typée de manière statique, ce qui permet une vérification rigoureuse des erreurs et une optimisation des performances. </a:t>
            </a:r>
            <a:r>
              <a:rPr lang="fr-CA" sz="2400" dirty="0" smtClean="0"/>
              <a:t>L’universalité </a:t>
            </a:r>
            <a:r>
              <a:rPr lang="fr-CA" sz="2400" dirty="0"/>
              <a:t>et les performances puissantes de Java ont cimenté sa place dans les applications côté serveur, </a:t>
            </a:r>
            <a:r>
              <a:rPr lang="fr-CA" sz="2400" dirty="0" smtClean="0"/>
              <a:t>l’informatique </a:t>
            </a:r>
            <a:r>
              <a:rPr lang="fr-CA" sz="2400" dirty="0"/>
              <a:t>mobile et les systèmes à grande échelle.</a:t>
            </a:r>
            <a:endParaRPr lang="fr-FR" sz="2400" dirty="0"/>
          </a:p>
        </p:txBody>
      </p:sp>
    </p:spTree>
    <p:extLst>
      <p:ext uri="{BB962C8B-B14F-4D97-AF65-F5344CB8AC3E}">
        <p14:creationId xmlns:p14="http://schemas.microsoft.com/office/powerpoint/2010/main" val="67219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287887" y="2163651"/>
            <a:ext cx="9646276" cy="2677656"/>
          </a:xfrm>
          <a:prstGeom prst="rect">
            <a:avLst/>
          </a:prstGeom>
          <a:noFill/>
        </p:spPr>
        <p:txBody>
          <a:bodyPr wrap="square" rtlCol="0">
            <a:spAutoFit/>
          </a:bodyPr>
          <a:lstStyle/>
          <a:p>
            <a:r>
              <a:rPr lang="fr-CA" sz="2400" dirty="0"/>
              <a:t>Dans le vaste univers de la programmation, Python et Java orbitent comme deux corps célestes colossaux, chacun rayonnant d‘une luminescence unique, illuminant les chemins de l‘innovation, de la polyvalence et de l‘avancée technologique. Leurs histoires sont des sagas épiques, des récits tissés de fils de vision, d‘évolution et d‘impacts transformateurs sur le cosmos informatique. Voyageons à travers le temps, en naviguant dans les époques qui ont défini les trajectoires de Python et de Java.</a:t>
            </a:r>
            <a:endParaRPr lang="fr-FR" sz="2400" dirty="0"/>
          </a:p>
        </p:txBody>
      </p:sp>
      <p:sp>
        <p:nvSpPr>
          <p:cNvPr id="3" name="ZoneTexte 2"/>
          <p:cNvSpPr txBox="1"/>
          <p:nvPr/>
        </p:nvSpPr>
        <p:spPr>
          <a:xfrm>
            <a:off x="1378040" y="1197735"/>
            <a:ext cx="9247031" cy="461665"/>
          </a:xfrm>
          <a:prstGeom prst="rect">
            <a:avLst/>
          </a:prstGeom>
          <a:noFill/>
        </p:spPr>
        <p:txBody>
          <a:bodyPr wrap="square" rtlCol="0">
            <a:spAutoFit/>
          </a:bodyPr>
          <a:lstStyle/>
          <a:p>
            <a:pPr algn="ctr"/>
            <a:r>
              <a:rPr lang="fr-CA" sz="2400" dirty="0" smtClean="0"/>
              <a:t>L’histoire </a:t>
            </a:r>
            <a:r>
              <a:rPr lang="fr-CA" sz="2400" dirty="0"/>
              <a:t>de Python et de Java : Chroniques du code et de </a:t>
            </a:r>
            <a:r>
              <a:rPr lang="fr-CA" sz="2400" dirty="0" smtClean="0"/>
              <a:t>l’innovation</a:t>
            </a:r>
            <a:endParaRPr lang="fr-CA" sz="2400" b="1" dirty="0"/>
          </a:p>
        </p:txBody>
      </p:sp>
    </p:spTree>
    <p:extLst>
      <p:ext uri="{BB962C8B-B14F-4D97-AF65-F5344CB8AC3E}">
        <p14:creationId xmlns:p14="http://schemas.microsoft.com/office/powerpoint/2010/main" val="135420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021983" y="1081825"/>
            <a:ext cx="7778840" cy="461665"/>
          </a:xfrm>
          <a:prstGeom prst="rect">
            <a:avLst/>
          </a:prstGeom>
          <a:noFill/>
        </p:spPr>
        <p:txBody>
          <a:bodyPr wrap="square" rtlCol="0">
            <a:spAutoFit/>
          </a:bodyPr>
          <a:lstStyle/>
          <a:p>
            <a:pPr algn="ctr"/>
            <a:r>
              <a:rPr lang="fr-CA" sz="2400" b="1" dirty="0" smtClean="0"/>
              <a:t>Python : La </a:t>
            </a:r>
            <a:r>
              <a:rPr lang="fr-CA" sz="2400" b="1" dirty="0"/>
              <a:t>genèse d‘une syntaxe </a:t>
            </a:r>
            <a:r>
              <a:rPr lang="fr-CA" sz="2400" b="1" dirty="0" smtClean="0"/>
              <a:t>expressive</a:t>
            </a:r>
            <a:r>
              <a:rPr lang="fr-FR" sz="2400" dirty="0" smtClean="0"/>
              <a:t> </a:t>
            </a:r>
            <a:endParaRPr lang="fr-CA" sz="2400" b="1" dirty="0"/>
          </a:p>
        </p:txBody>
      </p:sp>
      <p:sp>
        <p:nvSpPr>
          <p:cNvPr id="3" name="ZoneTexte 2"/>
          <p:cNvSpPr txBox="1"/>
          <p:nvPr/>
        </p:nvSpPr>
        <p:spPr>
          <a:xfrm>
            <a:off x="1275009" y="1931831"/>
            <a:ext cx="9633397" cy="4154984"/>
          </a:xfrm>
          <a:prstGeom prst="rect">
            <a:avLst/>
          </a:prstGeom>
          <a:noFill/>
        </p:spPr>
        <p:txBody>
          <a:bodyPr wrap="square" rtlCol="0">
            <a:spAutoFit/>
          </a:bodyPr>
          <a:lstStyle/>
          <a:p>
            <a:r>
              <a:rPr lang="fr-CA" sz="2400" dirty="0"/>
              <a:t>Python, imaginé par Guido van </a:t>
            </a:r>
            <a:r>
              <a:rPr lang="fr-CA" sz="2400" dirty="0" err="1"/>
              <a:t>Rossum</a:t>
            </a:r>
            <a:r>
              <a:rPr lang="fr-CA" sz="2400" dirty="0"/>
              <a:t>, a entamé son odyssée à la fin des années 1980, se manifestant en 1991 par une philosophie centrée sur la simplicité et l‘expressivité. Le code Python a été conçu pour être un symbole de lisibilité et d‘élégance, permettant aux programmeurs d‘articuler des idées et des solutions avec clarté et concision.</a:t>
            </a:r>
          </a:p>
          <a:p>
            <a:r>
              <a:rPr lang="fr-CA" sz="2400" dirty="0"/>
              <a:t>La naissance : Le "Hello World" de Python a fait écho à sa simplicité, invitant les programmeurs à s‘exprimer, à créer et à innover.</a:t>
            </a:r>
          </a:p>
          <a:p>
            <a:r>
              <a:rPr lang="fr-CA" sz="2400" dirty="0"/>
              <a:t>Évolution : Python a évolué, adoptant les </a:t>
            </a:r>
            <a:r>
              <a:rPr lang="fr-CA" sz="2400" dirty="0" err="1"/>
              <a:t>args</a:t>
            </a:r>
            <a:r>
              <a:rPr lang="fr-CA" sz="2400" dirty="0"/>
              <a:t> et les paramètres, améliorant son expressivité et sa flexibilité, permettant aux développeurs d‘utiliser Python dans une multitude de domaines, du développement web à la science des données.</a:t>
            </a:r>
          </a:p>
          <a:p>
            <a:endParaRPr lang="fr-FR" sz="2400" dirty="0"/>
          </a:p>
        </p:txBody>
      </p:sp>
    </p:spTree>
    <p:extLst>
      <p:ext uri="{BB962C8B-B14F-4D97-AF65-F5344CB8AC3E}">
        <p14:creationId xmlns:p14="http://schemas.microsoft.com/office/powerpoint/2010/main" val="366554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867437" y="1056067"/>
            <a:ext cx="8603087" cy="461665"/>
          </a:xfrm>
          <a:prstGeom prst="rect">
            <a:avLst/>
          </a:prstGeom>
          <a:noFill/>
        </p:spPr>
        <p:txBody>
          <a:bodyPr wrap="square" rtlCol="0">
            <a:spAutoFit/>
          </a:bodyPr>
          <a:lstStyle/>
          <a:p>
            <a:pPr algn="ctr"/>
            <a:r>
              <a:rPr lang="fr-CA" sz="2400" b="1" dirty="0"/>
              <a:t>Java : Le voyage de </a:t>
            </a:r>
            <a:r>
              <a:rPr lang="fr-CA" sz="2400" b="1" dirty="0" smtClean="0"/>
              <a:t>l’indépendance </a:t>
            </a:r>
            <a:r>
              <a:rPr lang="fr-CA" sz="2400" b="1" dirty="0"/>
              <a:t>de la </a:t>
            </a:r>
            <a:r>
              <a:rPr lang="fr-CA" sz="2400" b="1" dirty="0" smtClean="0"/>
              <a:t>plate-forme</a:t>
            </a:r>
            <a:endParaRPr lang="fr-CA" sz="2400" b="1" dirty="0"/>
          </a:p>
        </p:txBody>
      </p:sp>
      <p:sp>
        <p:nvSpPr>
          <p:cNvPr id="3" name="ZoneTexte 2"/>
          <p:cNvSpPr txBox="1"/>
          <p:nvPr/>
        </p:nvSpPr>
        <p:spPr>
          <a:xfrm>
            <a:off x="1442434" y="1931831"/>
            <a:ext cx="9401577" cy="3785652"/>
          </a:xfrm>
          <a:prstGeom prst="rect">
            <a:avLst/>
          </a:prstGeom>
          <a:noFill/>
        </p:spPr>
        <p:txBody>
          <a:bodyPr wrap="square" rtlCol="0">
            <a:spAutoFit/>
          </a:bodyPr>
          <a:lstStyle/>
          <a:p>
            <a:r>
              <a:rPr lang="fr-CA" sz="2400" dirty="0"/>
              <a:t>Java, conçu par James </a:t>
            </a:r>
            <a:r>
              <a:rPr lang="fr-CA" sz="2400" dirty="0" err="1"/>
              <a:t>Gosling</a:t>
            </a:r>
            <a:r>
              <a:rPr lang="fr-CA" sz="2400" dirty="0"/>
              <a:t> et son équipe de Sun Microsystems, s‘est donné pour mission d‘être un conduit universel de code machine, un langage qui résonnait avec le mantra "écrire une fois, exécuter n‘importe où" (WORA), favorisant les applications indépendantes de plateforme.</a:t>
            </a:r>
          </a:p>
          <a:p>
            <a:r>
              <a:rPr lang="fr-CA" sz="2400" dirty="0"/>
              <a:t>Création : Le code Java s‘est imposé comme un langage robuste, sûr et indépendant de plateforme, faisant écho à "Hello World" sur divers systèmes d‘exploitation et architectures.</a:t>
            </a:r>
          </a:p>
          <a:p>
            <a:r>
              <a:rPr lang="fr-CA" sz="2400" dirty="0"/>
              <a:t>L‘évolution : L‘architecture de Java, fondée sur la machine virtuelle Java (JVM), a transformé l‘exécution du code machine, incarnant l‘essence de la compatibilité et de la performance entre les </a:t>
            </a:r>
            <a:r>
              <a:rPr lang="fr-CA" sz="2400" dirty="0" err="1"/>
              <a:t>sitesplateforme</a:t>
            </a:r>
            <a:r>
              <a:rPr lang="fr-CA" sz="2400" dirty="0"/>
              <a:t> </a:t>
            </a:r>
            <a:r>
              <a:rPr lang="fr-CA" sz="2400" dirty="0" smtClean="0"/>
              <a:t>.</a:t>
            </a:r>
            <a:endParaRPr lang="fr-CA" sz="2400" dirty="0"/>
          </a:p>
        </p:txBody>
      </p:sp>
    </p:spTree>
    <p:extLst>
      <p:ext uri="{BB962C8B-B14F-4D97-AF65-F5344CB8AC3E}">
        <p14:creationId xmlns:p14="http://schemas.microsoft.com/office/powerpoint/2010/main" val="216908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378038" y="965917"/>
            <a:ext cx="9311425" cy="461665"/>
          </a:xfrm>
          <a:prstGeom prst="rect">
            <a:avLst/>
          </a:prstGeom>
          <a:noFill/>
        </p:spPr>
        <p:txBody>
          <a:bodyPr wrap="square" rtlCol="0">
            <a:spAutoFit/>
          </a:bodyPr>
          <a:lstStyle/>
          <a:p>
            <a:pPr algn="ctr"/>
            <a:r>
              <a:rPr lang="fr-CA" sz="2400" b="1" dirty="0" smtClean="0"/>
              <a:t>Qu’est-ce </a:t>
            </a:r>
            <a:r>
              <a:rPr lang="fr-CA" sz="2400" b="1" dirty="0"/>
              <a:t>qui rend la syntaxe de Python unique </a:t>
            </a:r>
            <a:r>
              <a:rPr lang="fr-CA" sz="2400" b="1" dirty="0" smtClean="0"/>
              <a:t>?</a:t>
            </a:r>
            <a:endParaRPr lang="fr-CA" sz="2400" b="1" dirty="0"/>
          </a:p>
        </p:txBody>
      </p:sp>
      <p:sp>
        <p:nvSpPr>
          <p:cNvPr id="3" name="ZoneTexte 2"/>
          <p:cNvSpPr txBox="1"/>
          <p:nvPr/>
        </p:nvSpPr>
        <p:spPr>
          <a:xfrm>
            <a:off x="1017430" y="1815921"/>
            <a:ext cx="10032642" cy="4524315"/>
          </a:xfrm>
          <a:prstGeom prst="rect">
            <a:avLst/>
          </a:prstGeom>
          <a:noFill/>
        </p:spPr>
        <p:txBody>
          <a:bodyPr wrap="square" rtlCol="0">
            <a:spAutoFit/>
          </a:bodyPr>
          <a:lstStyle/>
          <a:p>
            <a:r>
              <a:rPr lang="fr-CA" sz="2400" dirty="0"/>
              <a:t>Python, créé par Guido van </a:t>
            </a:r>
            <a:r>
              <a:rPr lang="fr-CA" sz="2400" dirty="0" err="1"/>
              <a:t>Rossum</a:t>
            </a:r>
            <a:r>
              <a:rPr lang="fr-CA" sz="2400" dirty="0"/>
              <a:t>, est souvent célébré pour son élégante simplicité. Il s‘agit d‘un langage interprété, dans lequel le code est exécuté ligne par ligne, ce qui facilite le débogage. La syntaxe de Python, dépourvue de parenthèses et de points-virgules encombrants, favorise la lisibilité. L‘indentation n‘est pas seulement une question de style ; c‘est une exigence pour définir les blocs de code, incarnant l‘accent mis par Python sur la lisibilité du code et la présentation propre.</a:t>
            </a:r>
          </a:p>
          <a:p>
            <a:r>
              <a:rPr lang="fr-CA" sz="2400" dirty="0"/>
              <a:t>En Python, le typage dynamique prévaut. Les variables ne sont pas limitées par des types de données rigides, ce qui leur confère une grande flexibilité. Cette caractéristique, ainsi que les nombreux modules et packages de Python, tels que Pandas et </a:t>
            </a:r>
            <a:r>
              <a:rPr lang="fr-CA" sz="2400" dirty="0" err="1"/>
              <a:t>TensorFlow</a:t>
            </a:r>
            <a:r>
              <a:rPr lang="fr-CA" sz="2400" dirty="0"/>
              <a:t>, ont propulsé Python sous les feux de la rampe dans des domaines tels que l‘apprentissage automatique et la science des données.</a:t>
            </a:r>
          </a:p>
          <a:p>
            <a:endParaRPr lang="fr-FR" sz="2400" dirty="0"/>
          </a:p>
        </p:txBody>
      </p:sp>
    </p:spTree>
    <p:extLst>
      <p:ext uri="{BB962C8B-B14F-4D97-AF65-F5344CB8AC3E}">
        <p14:creationId xmlns:p14="http://schemas.microsoft.com/office/powerpoint/2010/main" val="2015605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725769" y="785611"/>
            <a:ext cx="8860665" cy="461665"/>
          </a:xfrm>
          <a:prstGeom prst="rect">
            <a:avLst/>
          </a:prstGeom>
          <a:noFill/>
        </p:spPr>
        <p:txBody>
          <a:bodyPr wrap="square" rtlCol="0">
            <a:spAutoFit/>
          </a:bodyPr>
          <a:lstStyle/>
          <a:p>
            <a:pPr algn="ctr"/>
            <a:r>
              <a:rPr lang="fr-CA" sz="2400" b="1" dirty="0"/>
              <a:t>Comment la syntaxe de Java se distingue-t-elle </a:t>
            </a:r>
            <a:r>
              <a:rPr lang="fr-CA" sz="2400" b="1" dirty="0" smtClean="0"/>
              <a:t>?</a:t>
            </a:r>
            <a:endParaRPr lang="fr-CA" sz="2400" b="1" dirty="0"/>
          </a:p>
        </p:txBody>
      </p:sp>
      <p:sp>
        <p:nvSpPr>
          <p:cNvPr id="3" name="ZoneTexte 2"/>
          <p:cNvSpPr txBox="1"/>
          <p:nvPr/>
        </p:nvSpPr>
        <p:spPr>
          <a:xfrm>
            <a:off x="1017431" y="1622738"/>
            <a:ext cx="9929611" cy="4154984"/>
          </a:xfrm>
          <a:prstGeom prst="rect">
            <a:avLst/>
          </a:prstGeom>
          <a:noFill/>
        </p:spPr>
        <p:txBody>
          <a:bodyPr wrap="square" rtlCol="0">
            <a:spAutoFit/>
          </a:bodyPr>
          <a:lstStyle/>
          <a:p>
            <a:r>
              <a:rPr lang="fr-CA" sz="2400" dirty="0"/>
              <a:t>Java, une création de Sun Microsystems, porte la bannière </a:t>
            </a:r>
            <a:r>
              <a:rPr lang="fr-CA" sz="2400" dirty="0" smtClean="0"/>
              <a:t>d’un </a:t>
            </a:r>
            <a:r>
              <a:rPr lang="fr-CA" sz="2400" dirty="0"/>
              <a:t>langage compilé. C‘est un domaine où le code se transforme en </a:t>
            </a:r>
            <a:r>
              <a:rPr lang="fr-CA" sz="2400" dirty="0" err="1"/>
              <a:t>bytecode</a:t>
            </a:r>
            <a:r>
              <a:rPr lang="fr-CA" sz="2400" dirty="0"/>
              <a:t>, capable de fonctionner sur n‘importe quel appareil doté d‘une machine virtuelle Java (JVM). La syntaxe de Java reprend les structures du C++, avec des points-virgules et des parenthèses qui délimitent les blocs de code.</a:t>
            </a:r>
          </a:p>
          <a:p>
            <a:r>
              <a:rPr lang="fr-CA" sz="2400" dirty="0"/>
              <a:t>Java est un langage à typage statique, qui impose la déclaration explicite des types de données variables. Cette caractéristique, associée à la nature de programmation orientée objet de Java, en fait un langage robuste et puissant, un pilier dans les environnements d‘entreprise, le développement d‘applications dorsales et les applications mobiles, notamment Android.</a:t>
            </a:r>
          </a:p>
          <a:p>
            <a:endParaRPr lang="fr-FR" sz="2400" dirty="0"/>
          </a:p>
        </p:txBody>
      </p:sp>
    </p:spTree>
    <p:extLst>
      <p:ext uri="{BB962C8B-B14F-4D97-AF65-F5344CB8AC3E}">
        <p14:creationId xmlns:p14="http://schemas.microsoft.com/office/powerpoint/2010/main" val="4113599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584102" y="1030309"/>
            <a:ext cx="8963695" cy="400110"/>
          </a:xfrm>
          <a:prstGeom prst="rect">
            <a:avLst/>
          </a:prstGeom>
          <a:noFill/>
        </p:spPr>
        <p:txBody>
          <a:bodyPr wrap="square" rtlCol="0">
            <a:spAutoFit/>
          </a:bodyPr>
          <a:lstStyle/>
          <a:p>
            <a:pPr algn="ctr"/>
            <a:r>
              <a:rPr lang="fr-CA" sz="2000" b="1" dirty="0"/>
              <a:t>Quels sont les domaines </a:t>
            </a:r>
            <a:r>
              <a:rPr lang="fr-CA" sz="2000" b="1" dirty="0" smtClean="0"/>
              <a:t>d’application </a:t>
            </a:r>
            <a:r>
              <a:rPr lang="fr-CA" sz="2000" b="1" dirty="0"/>
              <a:t>communs de Python et de Java </a:t>
            </a:r>
            <a:r>
              <a:rPr lang="fr-CA" sz="2000" b="1" dirty="0" smtClean="0"/>
              <a:t>?</a:t>
            </a:r>
            <a:endParaRPr lang="fr-CA" sz="2000" b="1" dirty="0"/>
          </a:p>
        </p:txBody>
      </p:sp>
      <p:sp>
        <p:nvSpPr>
          <p:cNvPr id="3" name="ZoneTexte 2"/>
          <p:cNvSpPr txBox="1"/>
          <p:nvPr/>
        </p:nvSpPr>
        <p:spPr>
          <a:xfrm>
            <a:off x="1197735" y="1906073"/>
            <a:ext cx="9994006" cy="3416320"/>
          </a:xfrm>
          <a:prstGeom prst="rect">
            <a:avLst/>
          </a:prstGeom>
          <a:noFill/>
        </p:spPr>
        <p:txBody>
          <a:bodyPr wrap="square" rtlCol="0">
            <a:spAutoFit/>
          </a:bodyPr>
          <a:lstStyle/>
          <a:p>
            <a:r>
              <a:rPr lang="fr-CA" sz="2400" dirty="0"/>
              <a:t>Python :</a:t>
            </a:r>
          </a:p>
          <a:p>
            <a:pPr lvl="1"/>
            <a:r>
              <a:rPr lang="fr-CA" sz="2400" dirty="0"/>
              <a:t>Cadres : Django, </a:t>
            </a:r>
            <a:r>
              <a:rPr lang="fr-CA" sz="2400" dirty="0" err="1"/>
              <a:t>Flask</a:t>
            </a:r>
            <a:endParaRPr lang="fr-CA" sz="2400" dirty="0"/>
          </a:p>
          <a:p>
            <a:pPr lvl="1"/>
            <a:r>
              <a:rPr lang="fr-CA" sz="2400" dirty="0"/>
              <a:t>Exemple : Création d‘un site web de blog où Python gère les fonctionnalités du </a:t>
            </a:r>
            <a:r>
              <a:rPr lang="fr-CA" sz="2400" dirty="0" err="1"/>
              <a:t>backend</a:t>
            </a:r>
            <a:r>
              <a:rPr lang="fr-CA" sz="2400" dirty="0"/>
              <a:t>, les interactions avec la base de données et l‘authentification des utilisateurs.</a:t>
            </a:r>
          </a:p>
          <a:p>
            <a:r>
              <a:rPr lang="fr-CA" sz="2400" dirty="0"/>
              <a:t>Java :</a:t>
            </a:r>
          </a:p>
          <a:p>
            <a:pPr lvl="1"/>
            <a:r>
              <a:rPr lang="fr-CA" sz="2400" dirty="0"/>
              <a:t>Cadres : </a:t>
            </a:r>
            <a:r>
              <a:rPr lang="fr-CA" sz="2400" dirty="0" err="1"/>
              <a:t>Spring</a:t>
            </a:r>
            <a:r>
              <a:rPr lang="fr-CA" sz="2400" dirty="0"/>
              <a:t>, </a:t>
            </a:r>
            <a:r>
              <a:rPr lang="fr-CA" sz="2400" dirty="0" err="1"/>
              <a:t>JavaServer</a:t>
            </a:r>
            <a:r>
              <a:rPr lang="fr-CA" sz="2400" dirty="0"/>
              <a:t> Faces (JSF)</a:t>
            </a:r>
          </a:p>
          <a:p>
            <a:pPr lvl="1"/>
            <a:r>
              <a:rPr lang="fr-CA" sz="2400" dirty="0"/>
              <a:t>Exemple : Développement d‘un commerce électronique complet plateforme avec des passerelles de paiement sécurisées et des pages web dynamiques.</a:t>
            </a:r>
          </a:p>
        </p:txBody>
      </p:sp>
    </p:spTree>
    <p:extLst>
      <p:ext uri="{BB962C8B-B14F-4D97-AF65-F5344CB8AC3E}">
        <p14:creationId xmlns:p14="http://schemas.microsoft.com/office/powerpoint/2010/main" val="4003819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236372" y="1918952"/>
            <a:ext cx="9826580" cy="4154984"/>
          </a:xfrm>
          <a:prstGeom prst="rect">
            <a:avLst/>
          </a:prstGeom>
          <a:noFill/>
        </p:spPr>
        <p:txBody>
          <a:bodyPr wrap="square" rtlCol="0">
            <a:spAutoFit/>
          </a:bodyPr>
          <a:lstStyle/>
          <a:p>
            <a:r>
              <a:rPr lang="fr-CA" sz="2400" dirty="0"/>
              <a:t>Java :</a:t>
            </a:r>
          </a:p>
          <a:p>
            <a:pPr lvl="1"/>
            <a:r>
              <a:rPr lang="fr-CA" sz="2400" dirty="0"/>
              <a:t>Plateformes : Android</a:t>
            </a:r>
          </a:p>
          <a:p>
            <a:pPr lvl="1"/>
            <a:r>
              <a:rPr lang="fr-CA" sz="2400" dirty="0"/>
              <a:t>Exemple : Création d‘une application de voyage riche en fonctionnalités offrant une navigation en temps réel, des mises à jour météorologiques et des attractions locales.</a:t>
            </a:r>
          </a:p>
          <a:p>
            <a:r>
              <a:rPr lang="fr-CA" sz="2400" dirty="0"/>
              <a:t>Python :</a:t>
            </a:r>
          </a:p>
          <a:p>
            <a:pPr lvl="1"/>
            <a:r>
              <a:rPr lang="fr-CA" sz="2400" dirty="0"/>
              <a:t>Outils : </a:t>
            </a:r>
            <a:r>
              <a:rPr lang="fr-CA" sz="2400" dirty="0" err="1"/>
              <a:t>Kivy</a:t>
            </a:r>
            <a:r>
              <a:rPr lang="fr-CA" sz="2400" dirty="0"/>
              <a:t>, </a:t>
            </a:r>
            <a:r>
              <a:rPr lang="fr-CA" sz="2400" dirty="0" err="1"/>
              <a:t>BeeWare</a:t>
            </a:r>
            <a:endParaRPr lang="fr-CA" sz="2400" dirty="0"/>
          </a:p>
          <a:p>
            <a:pPr lvl="1"/>
            <a:r>
              <a:rPr lang="fr-CA" sz="2400" dirty="0"/>
              <a:t>Exemple : Développement d‘une application de santé cross-plateforme qui suit les données de fitness de l‘utilisateur et offre des conseils de santé personnalisés.</a:t>
            </a:r>
          </a:p>
          <a:p>
            <a:endParaRPr lang="fr-FR" sz="2400" dirty="0"/>
          </a:p>
        </p:txBody>
      </p:sp>
      <p:sp>
        <p:nvSpPr>
          <p:cNvPr id="3" name="ZoneTexte 2"/>
          <p:cNvSpPr txBox="1"/>
          <p:nvPr/>
        </p:nvSpPr>
        <p:spPr>
          <a:xfrm>
            <a:off x="2266682" y="862885"/>
            <a:ext cx="7830355" cy="461665"/>
          </a:xfrm>
          <a:prstGeom prst="rect">
            <a:avLst/>
          </a:prstGeom>
          <a:noFill/>
        </p:spPr>
        <p:txBody>
          <a:bodyPr wrap="square" rtlCol="0">
            <a:spAutoFit/>
          </a:bodyPr>
          <a:lstStyle/>
          <a:p>
            <a:pPr algn="ctr"/>
            <a:r>
              <a:rPr lang="fr-FR" sz="2400" b="1" dirty="0"/>
              <a:t>Développement d‘applications mobiles </a:t>
            </a:r>
          </a:p>
        </p:txBody>
      </p:sp>
    </p:spTree>
    <p:extLst>
      <p:ext uri="{BB962C8B-B14F-4D97-AF65-F5344CB8AC3E}">
        <p14:creationId xmlns:p14="http://schemas.microsoft.com/office/powerpoint/2010/main" val="70293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224835" y="2193702"/>
            <a:ext cx="4152900" cy="3810000"/>
          </a:xfrm>
          <a:prstGeom prst="rect">
            <a:avLst/>
          </a:prstGeom>
        </p:spPr>
      </p:pic>
      <p:pic>
        <p:nvPicPr>
          <p:cNvPr id="3" name="Image 2"/>
          <p:cNvPicPr>
            <a:picLocks noChangeAspect="1"/>
          </p:cNvPicPr>
          <p:nvPr/>
        </p:nvPicPr>
        <p:blipFill>
          <a:blip r:embed="rId3"/>
          <a:stretch>
            <a:fillRect/>
          </a:stretch>
        </p:blipFill>
        <p:spPr>
          <a:xfrm>
            <a:off x="7111351" y="3209120"/>
            <a:ext cx="2219325" cy="619125"/>
          </a:xfrm>
          <a:prstGeom prst="rect">
            <a:avLst/>
          </a:prstGeom>
        </p:spPr>
      </p:pic>
      <p:sp>
        <p:nvSpPr>
          <p:cNvPr id="4" name="ZoneTexte 3"/>
          <p:cNvSpPr txBox="1"/>
          <p:nvPr/>
        </p:nvSpPr>
        <p:spPr>
          <a:xfrm>
            <a:off x="2305318" y="862886"/>
            <a:ext cx="7173533" cy="461665"/>
          </a:xfrm>
          <a:prstGeom prst="rect">
            <a:avLst/>
          </a:prstGeom>
          <a:noFill/>
        </p:spPr>
        <p:txBody>
          <a:bodyPr wrap="square" rtlCol="0">
            <a:spAutoFit/>
          </a:bodyPr>
          <a:lstStyle/>
          <a:p>
            <a:pPr algn="ctr"/>
            <a:r>
              <a:rPr lang="fr-FR" sz="2400" dirty="0" smtClean="0"/>
              <a:t>Lignes de code en Python et Java</a:t>
            </a:r>
            <a:endParaRPr lang="fr-FR" sz="2400" dirty="0"/>
          </a:p>
        </p:txBody>
      </p:sp>
      <p:sp>
        <p:nvSpPr>
          <p:cNvPr id="5" name="ZoneTexte 4"/>
          <p:cNvSpPr txBox="1"/>
          <p:nvPr/>
        </p:nvSpPr>
        <p:spPr>
          <a:xfrm>
            <a:off x="1700012" y="1712837"/>
            <a:ext cx="2820473" cy="369332"/>
          </a:xfrm>
          <a:prstGeom prst="rect">
            <a:avLst/>
          </a:prstGeom>
          <a:noFill/>
        </p:spPr>
        <p:txBody>
          <a:bodyPr wrap="square" rtlCol="0">
            <a:spAutoFit/>
          </a:bodyPr>
          <a:lstStyle/>
          <a:p>
            <a:pPr algn="ctr"/>
            <a:r>
              <a:rPr lang="fr-FR" b="1" dirty="0" smtClean="0"/>
              <a:t>En JAVA</a:t>
            </a:r>
            <a:endParaRPr lang="fr-FR" b="1" dirty="0"/>
          </a:p>
        </p:txBody>
      </p:sp>
      <p:sp>
        <p:nvSpPr>
          <p:cNvPr id="6" name="ZoneTexte 5"/>
          <p:cNvSpPr txBox="1"/>
          <p:nvPr/>
        </p:nvSpPr>
        <p:spPr>
          <a:xfrm>
            <a:off x="6810776" y="2451337"/>
            <a:ext cx="2820473" cy="369332"/>
          </a:xfrm>
          <a:prstGeom prst="rect">
            <a:avLst/>
          </a:prstGeom>
          <a:noFill/>
        </p:spPr>
        <p:txBody>
          <a:bodyPr wrap="square" rtlCol="0">
            <a:spAutoFit/>
          </a:bodyPr>
          <a:lstStyle/>
          <a:p>
            <a:pPr algn="ctr"/>
            <a:r>
              <a:rPr lang="fr-FR" b="1" dirty="0" smtClean="0"/>
              <a:t>En Python</a:t>
            </a:r>
            <a:endParaRPr lang="fr-FR" b="1" dirty="0"/>
          </a:p>
        </p:txBody>
      </p:sp>
    </p:spTree>
    <p:extLst>
      <p:ext uri="{BB962C8B-B14F-4D97-AF65-F5344CB8AC3E}">
        <p14:creationId xmlns:p14="http://schemas.microsoft.com/office/powerpoint/2010/main" val="323609009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62</TotalTime>
  <Words>998</Words>
  <Application>Microsoft Office PowerPoint</Application>
  <PresentationFormat>Grand écran</PresentationFormat>
  <Paragraphs>41</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Garamond</vt:lpstr>
      <vt:lpstr>Organique</vt:lpstr>
      <vt:lpstr>Checkpoint : Python Vs Java différences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 : Python Vs Java différences</dc:title>
  <dc:creator>HP</dc:creator>
  <cp:lastModifiedBy>HP</cp:lastModifiedBy>
  <cp:revision>5</cp:revision>
  <dcterms:created xsi:type="dcterms:W3CDTF">2024-11-27T16:46:20Z</dcterms:created>
  <dcterms:modified xsi:type="dcterms:W3CDTF">2024-11-27T17:49:10Z</dcterms:modified>
</cp:coreProperties>
</file>